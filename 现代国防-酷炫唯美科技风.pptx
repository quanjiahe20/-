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11680" y="1920240"/>
            <a:ext cx="8138160" cy="301752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194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7200" b="1">
                <a:solidFill>
                  <a:srgbClr val="4CC9F0"/>
                </a:solidFill>
                <a:latin typeface="思源黑体"/>
              </a:rPr>
              <a:t>现代</a:t>
            </a:r>
            <a:r>
              <a:rPr sz="7200" b="1">
                <a:solidFill>
                  <a:srgbClr val="F1FAEE"/>
                </a:solidFill>
                <a:latin typeface="思源黑体"/>
              </a:rPr>
              <a:t>国防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65760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1EEEC"/>
                </a:solidFill>
                <a:latin typeface="思源黑体"/>
              </a:rPr>
              <a:t>国家安全是民族复兴的根基 · 现代国防是捍卫和平的钢铁长城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4754880"/>
            <a:ext cx="2468880" cy="0"/>
          </a:xfrm>
          <a:prstGeom prst="line">
            <a:avLst/>
          </a:prstGeom>
          <a:ln w="1270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0CCC8"/>
                </a:solidFill>
                <a:latin typeface="思源黑体"/>
              </a:rPr>
              <a:t>汇报人：XXX　|　班级：XXX</a:t>
            </a:r>
          </a:p>
        </p:txBody>
      </p:sp>
      <p:sp>
        <p:nvSpPr>
          <p:cNvPr id="9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1FAEE"/>
                </a:solidFill>
                <a:latin typeface="思源黑体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C9F0"/>
                </a:solidFill>
                <a:latin typeface="思源黑体"/>
              </a:rPr>
              <a:t>CONTENTS · 四个维度读懂现代国防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965960"/>
            <a:ext cx="1554480" cy="0"/>
          </a:xfrm>
          <a:prstGeom prst="line">
            <a:avLst/>
          </a:prstGeom>
          <a:ln w="1270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377440"/>
            <a:ext cx="4937760" cy="164592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4CC9F0"/>
                </a:solidFill>
                <a:latin typeface="思源黑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606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AEE"/>
                </a:solidFill>
                <a:latin typeface="思源黑体"/>
              </a:rPr>
              <a:t>国防内涵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154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CB8"/>
                </a:solidFill>
                <a:latin typeface="思源黑体"/>
              </a:rPr>
              <a:t>现代国防的定义与核心内涵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77440"/>
            <a:ext cx="4937760" cy="164592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5146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A855F7"/>
                </a:solidFill>
                <a:latin typeface="思源黑体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606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AEE"/>
                </a:solidFill>
                <a:latin typeface="思源黑体"/>
              </a:rPr>
              <a:t>时代特征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154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CB8"/>
                </a:solidFill>
                <a:latin typeface="思源黑体"/>
              </a:rPr>
              <a:t>现代国防的四大鲜明特征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434840"/>
            <a:ext cx="4937760" cy="164592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5720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A855F7"/>
                </a:solidFill>
                <a:latin typeface="思源黑体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AEE"/>
                </a:solidFill>
                <a:latin typeface="思源黑体"/>
              </a:rPr>
              <a:t>力量构成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2120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CB8"/>
                </a:solidFill>
                <a:latin typeface="思源黑体"/>
              </a:rPr>
              <a:t>五大军种与全域慑战体系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434840"/>
            <a:ext cx="4937760" cy="164592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5720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4CC9F0"/>
                </a:solidFill>
                <a:latin typeface="思源黑体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AEE"/>
                </a:solidFill>
                <a:latin typeface="思源黑体"/>
              </a:rPr>
              <a:t>时代责任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2120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CB8"/>
                </a:solidFill>
                <a:latin typeface="思源黑体"/>
              </a:rPr>
              <a:t>国防意义与青年的使命担当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4CC9F0"/>
                </a:solidFill>
                <a:latin typeface="思源黑体"/>
              </a:rPr>
              <a:t>01  </a:t>
            </a:r>
            <a:r>
              <a:rPr sz="3000" b="1">
                <a:solidFill>
                  <a:srgbClr val="F1FAEE"/>
                </a:solidFill>
                <a:latin typeface="思源黑体"/>
              </a:rPr>
              <a:t>什么是现代国防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280160"/>
            <a:ext cx="1645920" cy="0"/>
          </a:xfrm>
          <a:prstGeom prst="line">
            <a:avLst/>
          </a:prstGeom>
          <a:ln w="1270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60020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CC9F0"/>
                </a:solidFill>
                <a:latin typeface="思源黑体"/>
              </a:rPr>
              <a:t>核心定义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</a:pPr>
            <a:r>
              <a:rPr sz="1600" b="0">
                <a:solidFill>
                  <a:srgbClr val="F1FAEE"/>
                </a:solidFill>
                <a:latin typeface="思源黑体"/>
              </a:rPr>
              <a:t>现代国防是国家为</a:t>
            </a:r>
            <a:r>
              <a:rPr sz="1600" b="1">
                <a:solidFill>
                  <a:srgbClr val="4CC9F0"/>
                </a:solidFill>
                <a:latin typeface="思源黑体"/>
              </a:rPr>
              <a:t>防备和抵抗侵略</a:t>
            </a:r>
            <a:r>
              <a:rPr sz="1600" b="0">
                <a:solidFill>
                  <a:srgbClr val="F1FAEE"/>
                </a:solidFill>
                <a:latin typeface="思源黑体"/>
              </a:rPr>
              <a:t>、制止武装颠覆，保卫国家的</a:t>
            </a:r>
            <a:r>
              <a:rPr sz="1600" b="1">
                <a:solidFill>
                  <a:srgbClr val="4CC9F0"/>
                </a:solidFill>
                <a:latin typeface="思源黑体"/>
              </a:rPr>
              <a:t>主权、统一、领土完整和安全</a:t>
            </a:r>
            <a:r>
              <a:rPr sz="1600" b="0">
                <a:solidFill>
                  <a:srgbClr val="F1FAEE"/>
                </a:solidFill>
                <a:latin typeface="思源黑体"/>
              </a:rPr>
              <a:t>所进行的军事及与军事有关的政治、经济、外交、科技、教育等方面的活动。</a:t>
            </a:r>
          </a:p>
          <a:p>
            <a:pPr algn="l">
              <a:lnSpc>
                <a:spcPct val="170000"/>
              </a:lnSpc>
            </a:pPr>
            <a:r>
              <a:rPr sz="1600" b="0">
                <a:solidFill>
                  <a:srgbClr val="F1FAEE"/>
                </a:solidFill>
                <a:latin typeface="思源黑体"/>
              </a:rPr>
              <a:t>它不仅是军事力量的较量，更是</a:t>
            </a:r>
            <a:r>
              <a:rPr sz="1600" b="1">
                <a:solidFill>
                  <a:srgbClr val="A855F7"/>
                </a:solidFill>
                <a:latin typeface="思源黑体"/>
              </a:rPr>
              <a:t>综合国力</a:t>
            </a:r>
            <a:r>
              <a:rPr sz="1600" b="0">
                <a:solidFill>
                  <a:srgbClr val="F1FAEE"/>
                </a:solidFill>
                <a:latin typeface="思源黑体"/>
              </a:rPr>
              <a:t>的全面体现。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600200"/>
            <a:ext cx="4572000" cy="1024128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7647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AEE"/>
                </a:solidFill>
                <a:latin typeface="思源黑体"/>
              </a:rPr>
              <a:t>捍卫国家主权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1671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CB8"/>
                </a:solidFill>
                <a:latin typeface="思源黑体"/>
              </a:rPr>
              <a:t>独立自主，不容外来干涉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770632"/>
            <a:ext cx="4572000" cy="1024128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9352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AEE"/>
                </a:solidFill>
                <a:latin typeface="思源黑体"/>
              </a:rPr>
              <a:t>维护领土完整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337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CB8"/>
                </a:solidFill>
                <a:latin typeface="思源黑体"/>
              </a:rPr>
              <a:t>寸土必争，守护每一寸疆域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941064"/>
            <a:ext cx="4572000" cy="1024128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410565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AEE"/>
                </a:solidFill>
                <a:latin typeface="思源黑体"/>
              </a:rPr>
              <a:t>保障国家安全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507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CB8"/>
                </a:solidFill>
                <a:latin typeface="思源黑体"/>
              </a:rPr>
              <a:t>军事、网络、太空全域安全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5111496"/>
            <a:ext cx="4572000" cy="1024128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52760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AEE"/>
                </a:solidFill>
                <a:latin typeface="思源黑体"/>
              </a:rPr>
              <a:t>促进国家发展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6784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CB8"/>
                </a:solidFill>
                <a:latin typeface="思源黑体"/>
              </a:rPr>
              <a:t>和平环境是发展的前提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4CC9F0"/>
                </a:solidFill>
                <a:latin typeface="思源黑体"/>
              </a:rPr>
              <a:t>02  </a:t>
            </a:r>
            <a:r>
              <a:rPr sz="3000" b="1">
                <a:solidFill>
                  <a:srgbClr val="F1FAEE"/>
                </a:solidFill>
                <a:latin typeface="思源黑体"/>
              </a:rPr>
              <a:t>现代国防的四大特征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280160"/>
            <a:ext cx="1645920" cy="0"/>
          </a:xfrm>
          <a:prstGeom prst="line">
            <a:avLst/>
          </a:prstGeom>
          <a:ln w="1270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3840480"/>
            <a:ext cx="8412480" cy="0"/>
          </a:xfrm>
          <a:prstGeom prst="line">
            <a:avLst/>
          </a:prstGeom>
          <a:ln w="2540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810512" y="3730752"/>
            <a:ext cx="219456" cy="219456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53712" y="3730752"/>
            <a:ext cx="219456" cy="219456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88351" y="3730752"/>
            <a:ext cx="219456" cy="219456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31552" y="3730752"/>
            <a:ext cx="219456" cy="219456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691640"/>
            <a:ext cx="1920240" cy="192024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AEE"/>
                </a:solidFill>
                <a:latin typeface="思源黑体"/>
              </a:rPr>
              <a:t>综合国力较量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CB8"/>
                </a:solidFill>
                <a:latin typeface="思源黑体"/>
              </a:rPr>
              <a:t>超越单一军事
政经外交全面对抗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21608" y="1691640"/>
            <a:ext cx="1920240" cy="192024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AEE"/>
                </a:solidFill>
                <a:latin typeface="思源黑体"/>
              </a:rPr>
              <a:t>科技主导驱动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971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CB8"/>
                </a:solidFill>
                <a:latin typeface="思源黑体"/>
              </a:rPr>
              <a:t>信息化智能化
科技是核心战斗力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28816" y="1691640"/>
            <a:ext cx="1920240" cy="192024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AEE"/>
                </a:solidFill>
                <a:latin typeface="思源黑体"/>
              </a:rPr>
              <a:t>全域多维一体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2971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CB8"/>
                </a:solidFill>
                <a:latin typeface="思源黑体"/>
              </a:rPr>
              <a:t>陆海空天网电
多域协同作战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6024" y="1691640"/>
            <a:ext cx="1920240" cy="192024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AEE"/>
                </a:solidFill>
                <a:latin typeface="思源黑体"/>
              </a:rPr>
              <a:t>平战结合军民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3184" y="2971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CB8"/>
                </a:solidFill>
                <a:latin typeface="思源黑体"/>
              </a:rPr>
              <a:t>常备不懈
军民融合深度发展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480560"/>
            <a:ext cx="10332720" cy="1645920"/>
          </a:xfrm>
          <a:prstGeom prst="roundRect">
            <a:avLst>
              <a:gd name="adj" fmla="val 8000"/>
            </a:avLst>
          </a:prstGeom>
          <a:solidFill>
            <a:srgbClr val="4CC9F0">
              <a:alpha val="8000"/>
            </a:srgbClr>
          </a:solidFill>
          <a:ln w="952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7091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F1FAEE"/>
                </a:solidFill>
                <a:latin typeface="思源黑体"/>
              </a:rPr>
              <a:t>现代国防已从传统的</a:t>
            </a:r>
            <a:r>
              <a:rPr sz="1500" b="1">
                <a:solidFill>
                  <a:srgbClr val="4CC9F0"/>
                </a:solidFill>
                <a:latin typeface="思源黑体"/>
              </a:rPr>
              <a:t>「枪对枪、炮对炮」</a:t>
            </a:r>
            <a:r>
              <a:rPr sz="1500" b="0">
                <a:solidFill>
                  <a:srgbClr val="F1FAEE"/>
                </a:solidFill>
                <a:latin typeface="思源黑体"/>
              </a:rPr>
              <a:t>单一军事对抗，演变为</a:t>
            </a:r>
            <a:r>
              <a:rPr sz="1500" b="1">
                <a:solidFill>
                  <a:srgbClr val="A855F7"/>
                </a:solidFill>
                <a:latin typeface="思源黑体"/>
              </a:rPr>
              <a:t>综合国力、科技主导、全域多维、平战结合</a:t>
            </a:r>
            <a:r>
              <a:rPr sz="1500" b="0">
                <a:solidFill>
                  <a:srgbClr val="F1FAEE"/>
                </a:solidFill>
                <a:latin typeface="思源黑体"/>
              </a:rPr>
              <a:t>的体系较量。谁掌握了核心科技、谁构建了一体化防御体系，谁就能在未来博弈中占据主动。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4CC9F0"/>
                </a:solidFill>
                <a:latin typeface="思源黑体"/>
              </a:rPr>
              <a:t>03  </a:t>
            </a:r>
            <a:r>
              <a:rPr sz="3000" b="1">
                <a:solidFill>
                  <a:srgbClr val="F1FAEE"/>
                </a:solidFill>
                <a:latin typeface="思源黑体"/>
              </a:rPr>
              <a:t>国防力量构成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280160"/>
            <a:ext cx="1645920" cy="0"/>
          </a:xfrm>
          <a:prstGeom prst="line">
            <a:avLst/>
          </a:prstGeom>
          <a:ln w="1270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458968" y="2926080"/>
            <a:ext cx="1280160" cy="1280160"/>
          </a:xfrm>
          <a:prstGeom prst="ellipse">
            <a:avLst/>
          </a:prstGeom>
          <a:solidFill>
            <a:srgbClr val="4CC9F0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58968" y="2926080"/>
            <a:ext cx="12801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58968" y="2926080"/>
            <a:ext cx="1280160" cy="1280160"/>
          </a:xfrm>
          <a:prstGeom prst="ellipse">
            <a:avLst/>
          </a:prstGeom>
          <a:noFill/>
          <a:ln w="254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50408" y="3429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1FAEE"/>
                </a:solidFill>
                <a:latin typeface="思源黑体"/>
              </a:rPr>
              <a:t>人民军队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69164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892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1FAEE"/>
                </a:solidFill>
                <a:latin typeface="思源黑体"/>
              </a:rPr>
              <a:t>陆军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CB8"/>
                </a:solidFill>
                <a:latin typeface="思源黑体"/>
              </a:rPr>
              <a:t>地面作战 · 立体攻防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69164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892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1FAEE"/>
                </a:solidFill>
                <a:latin typeface="思源黑体"/>
              </a:rPr>
              <a:t>空军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39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CB8"/>
                </a:solidFill>
                <a:latin typeface="思源黑体"/>
              </a:rPr>
              <a:t>空天一体 · 全域作战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1FAEE"/>
                </a:solidFill>
                <a:latin typeface="思源黑体"/>
              </a:rPr>
              <a:t>海军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CB8"/>
                </a:solidFill>
                <a:latin typeface="思源黑体"/>
              </a:rPr>
              <a:t>近海防御 · 远海护卫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329184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1FAEE"/>
                </a:solidFill>
                <a:latin typeface="思源黑体"/>
              </a:rPr>
              <a:t>火箭军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CB8"/>
                </a:solidFill>
                <a:latin typeface="思源黑体"/>
              </a:rPr>
              <a:t>战略威慑 · 核常兼备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512064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5321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1FAEE"/>
                </a:solidFill>
                <a:latin typeface="思源黑体"/>
              </a:rPr>
              <a:t>战略支援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5760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CB8"/>
                </a:solidFill>
                <a:latin typeface="思源黑体"/>
              </a:rPr>
              <a:t>太空网络 · 信息对抗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4CC9F0"/>
                </a:solidFill>
                <a:latin typeface="思源黑体"/>
              </a:rPr>
              <a:t>04  </a:t>
            </a:r>
            <a:r>
              <a:rPr sz="3000" b="1">
                <a:solidFill>
                  <a:srgbClr val="F1FAEE"/>
                </a:solidFill>
                <a:latin typeface="思源黑体"/>
              </a:rPr>
              <a:t>科技赋能现代国防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280160"/>
            <a:ext cx="1645920" cy="0"/>
          </a:xfrm>
          <a:prstGeom prst="line">
            <a:avLst/>
          </a:prstGeom>
          <a:ln w="1270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tech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45720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1600200"/>
            <a:ext cx="4572000" cy="4572000"/>
          </a:xfrm>
          <a:prstGeom prst="rect">
            <a:avLst/>
          </a:prstGeom>
          <a:solidFill>
            <a:srgbClr val="0B13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4572000" cy="822960"/>
          </a:xfrm>
          <a:prstGeom prst="roundRect">
            <a:avLst>
              <a:gd name="adj" fmla="val 8000"/>
            </a:avLst>
          </a:prstGeom>
          <a:solidFill>
            <a:srgbClr val="0B132B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4864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1EEEC"/>
                </a:solidFill>
                <a:latin typeface="思源黑体"/>
              </a:rPr>
              <a:t>科技是核心战斗力，人工智能、无人系统、太空与网络力量正在重塑战争形态。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00200"/>
            <a:ext cx="2423160" cy="201168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1FAEE"/>
                </a:solidFill>
                <a:latin typeface="思源黑体"/>
              </a:rPr>
              <a:t>人工智能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9718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CB8"/>
                </a:solidFill>
                <a:latin typeface="思源黑体"/>
              </a:rPr>
              <a:t>智能决策
无人作战平台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600200"/>
            <a:ext cx="2423160" cy="201168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468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1FAEE"/>
                </a:solidFill>
                <a:latin typeface="思源黑体"/>
              </a:rPr>
              <a:t>无人系统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9718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CB8"/>
                </a:solidFill>
                <a:latin typeface="思源黑体"/>
              </a:rPr>
              <a:t>无人机蜂群
无人潜航器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931920"/>
            <a:ext cx="2423160" cy="201168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8006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1FAEE"/>
                </a:solidFill>
                <a:latin typeface="思源黑体"/>
              </a:rPr>
              <a:t>太空力量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3035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CB8"/>
                </a:solidFill>
                <a:latin typeface="思源黑体"/>
              </a:rPr>
              <a:t>卫星侦察
导弹预警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3931920"/>
            <a:ext cx="2423160" cy="201168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48006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1FAEE"/>
                </a:solidFill>
                <a:latin typeface="思源黑体"/>
              </a:rPr>
              <a:t>网络空间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53035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CB8"/>
                </a:solidFill>
                <a:latin typeface="思源黑体"/>
              </a:rPr>
              <a:t>网络攻防
信息对抗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4CC9F0"/>
                </a:solidFill>
                <a:latin typeface="思源黑体"/>
              </a:rPr>
              <a:t>05  </a:t>
            </a:r>
            <a:r>
              <a:rPr sz="3000" b="1">
                <a:solidFill>
                  <a:srgbClr val="F1FAEE"/>
                </a:solidFill>
                <a:latin typeface="思源黑体"/>
              </a:rPr>
              <a:t>国防的意义与青年责任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280160"/>
            <a:ext cx="1645920" cy="0"/>
          </a:xfrm>
          <a:prstGeom prst="line">
            <a:avLst/>
          </a:prstGeom>
          <a:ln w="1270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69164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4CC9F0">
              <a:alpha val="12000"/>
            </a:srgbClr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AEE"/>
                </a:solidFill>
                <a:latin typeface="思源黑体"/>
              </a:rPr>
              <a:t>国防的意义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A855F7">
              <a:alpha val="12000"/>
            </a:srgbClr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AEE"/>
                </a:solidFill>
                <a:latin typeface="思源黑体"/>
              </a:rPr>
              <a:t>青年的责任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974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C9F0"/>
                </a:solidFill>
                <a:latin typeface="思源黑体"/>
              </a:rPr>
              <a:t>国无防不立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00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CB8"/>
                </a:solidFill>
                <a:latin typeface="思源黑体"/>
              </a:rPr>
              <a:t>强大的国防是国家生存发展的根本保障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4904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86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C9F0"/>
                </a:solidFill>
                <a:latin typeface="思源黑体"/>
              </a:rPr>
              <a:t>民无防不安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51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CB8"/>
                </a:solidFill>
                <a:latin typeface="思源黑体"/>
              </a:rPr>
              <a:t>和平的生活离不开稳固的国防屏障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0060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937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C9F0"/>
                </a:solidFill>
                <a:latin typeface="思源黑体"/>
              </a:rPr>
              <a:t>民族复兴根基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03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CB8"/>
                </a:solidFill>
                <a:latin typeface="思源黑体"/>
              </a:rPr>
              <a:t>强国必须强军，军强才能国安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6974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834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855F7"/>
                </a:solidFill>
                <a:latin typeface="思源黑体"/>
              </a:rPr>
              <a:t>增强国防意识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00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CB8"/>
                </a:solidFill>
                <a:latin typeface="思源黑体"/>
              </a:rPr>
              <a:t>关心国防、了解国防，树立居安思危观念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4904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886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855F7"/>
                </a:solidFill>
                <a:latin typeface="思源黑体"/>
              </a:rPr>
              <a:t>投身国防建设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251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CB8"/>
                </a:solidFill>
                <a:latin typeface="思源黑体"/>
              </a:rPr>
              <a:t>参军入伍、科研报国，以实际行动强军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80060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937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855F7"/>
                </a:solidFill>
                <a:latin typeface="思源黑体"/>
              </a:rPr>
              <a:t>练就过硬本领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303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CB8"/>
                </a:solidFill>
                <a:latin typeface="思源黑体"/>
              </a:rPr>
              <a:t>学好专业知识，为强军兴军贡献力量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ing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194560"/>
            <a:ext cx="8138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8000" b="1">
                <a:solidFill>
                  <a:srgbClr val="4CC9F0"/>
                </a:solidFill>
                <a:latin typeface="思源黑体"/>
              </a:rPr>
              <a:t>感</a:t>
            </a:r>
            <a:r>
              <a:rPr sz="8000" b="1">
                <a:solidFill>
                  <a:srgbClr val="F1FAEE"/>
                </a:solidFill>
                <a:latin typeface="思源黑体"/>
              </a:rPr>
              <a:t>谢</a:t>
            </a:r>
            <a:r>
              <a:rPr sz="8000" b="1">
                <a:solidFill>
                  <a:srgbClr val="A855F7"/>
                </a:solidFill>
                <a:latin typeface="思源黑体"/>
              </a:rPr>
              <a:t>聆</a:t>
            </a:r>
            <a:r>
              <a:rPr sz="8000" b="1">
                <a:solidFill>
                  <a:srgbClr val="F1FAEE"/>
                </a:solidFill>
                <a:latin typeface="思源黑体"/>
              </a:rPr>
              <a:t>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0" y="4023360"/>
            <a:ext cx="2468880" cy="0"/>
          </a:xfrm>
          <a:prstGeom prst="line">
            <a:avLst/>
          </a:prstGeom>
          <a:ln w="1270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11680" y="429768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1EEEC"/>
                </a:solidFill>
                <a:latin typeface="思源黑体"/>
              </a:rPr>
              <a:t>居安思危 · 强军有我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48640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0CCC8"/>
                </a:solidFill>
                <a:latin typeface="思源黑体"/>
              </a:rPr>
              <a:t>现代国防主题汇报 · 敬请批评指正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